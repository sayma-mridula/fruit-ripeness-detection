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4"/>
  </p:sldMasterIdLst>
  <p:notesMasterIdLst>
    <p:notesMasterId r:id="rId22"/>
  </p:notesMasterIdLst>
  <p:handoutMasterIdLst>
    <p:handoutMasterId r:id="rId23"/>
  </p:handoutMasterIdLst>
  <p:sldIdLst>
    <p:sldId id="256" r:id="rId5"/>
    <p:sldId id="342" r:id="rId6"/>
    <p:sldId id="343" r:id="rId7"/>
    <p:sldId id="332" r:id="rId8"/>
    <p:sldId id="264" r:id="rId9"/>
    <p:sldId id="336" r:id="rId10"/>
    <p:sldId id="333" r:id="rId11"/>
    <p:sldId id="348" r:id="rId12"/>
    <p:sldId id="347" r:id="rId13"/>
    <p:sldId id="346" r:id="rId14"/>
    <p:sldId id="338" r:id="rId15"/>
    <p:sldId id="334" r:id="rId16"/>
    <p:sldId id="337" r:id="rId17"/>
    <p:sldId id="340" r:id="rId18"/>
    <p:sldId id="341" r:id="rId19"/>
    <p:sldId id="335" r:id="rId20"/>
    <p:sldId id="34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CC4D825A-12A2-4E7E-9B4B-789B35CFFFE1}">
          <p14:sldIdLst>
            <p14:sldId id="256"/>
            <p14:sldId id="342"/>
            <p14:sldId id="343"/>
            <p14:sldId id="332"/>
            <p14:sldId id="264"/>
            <p14:sldId id="336"/>
            <p14:sldId id="333"/>
            <p14:sldId id="348"/>
            <p14:sldId id="347"/>
            <p14:sldId id="346"/>
            <p14:sldId id="338"/>
            <p14:sldId id="334"/>
            <p14:sldId id="337"/>
            <p14:sldId id="340"/>
            <p14:sldId id="341"/>
            <p14:sldId id="335"/>
            <p14:sldId id="34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5359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howGuides="1">
      <p:cViewPr varScale="1">
        <p:scale>
          <a:sx n="94" d="100"/>
          <a:sy n="94" d="100"/>
        </p:scale>
        <p:origin x="274" y="82"/>
      </p:cViewPr>
      <p:guideLst/>
    </p:cSldViewPr>
  </p:slideViewPr>
  <p:outlineViewPr>
    <p:cViewPr>
      <p:scale>
        <a:sx n="33" d="100"/>
        <a:sy n="33" d="100"/>
      </p:scale>
      <p:origin x="0" y="-49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808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7C6B7-F63D-48F8-8C65-A57506B0F13B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B78DD-9481-4863-BCCC-946573546D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9A0FA-2191-4F92-A1E4-6EB4598AC4EC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59F2-43EF-4812-9DC0-98C0B1A406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52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03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39424-FCDC-8346-EE17-635ACBB4D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AB665B-F78F-8DA7-584B-AA39310D8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491307-0C2E-EDFB-5FE5-21A48B2AC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F134D-639A-63B7-68EB-312BC5766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836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00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838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308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92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D7E29-CDCD-8033-873B-76CA22CFC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DF2156-2DC0-4EE6-2140-BE0652622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904DF-C11C-D382-5DDD-C1A7D39B5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E4D1E-8F24-F529-ED4D-EB855CF4F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1601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8D834-D573-938F-D674-45AB0D46F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B93366-7601-6012-6AE7-9836B4805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9832A7-120B-F262-AC70-32B7EFD67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699DB-E7A4-A46B-FD37-D33ED34D77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3219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FDF37-0DC6-BCB2-9592-8154F5046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51E53-2056-E35D-12FC-1BD923F54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88925-A688-74E4-6D28-0F88AE08A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F2A7F-7220-73FD-89B8-0AC72FCB22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714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4053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7972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7145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7327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3352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8880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334A2-8D0E-3642-997E-E92ED0FDF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872C19-F579-6A04-103E-A7CCD7A4F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85B5A-C21E-C93D-7842-19A558BAD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3DA56-C78D-C18D-9E77-F860646EA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251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F86E7-7F48-4100-98BE-B1471C707C4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661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E9F90-AE00-4DF1-A10E-48F4B9622A7A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75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B32C-E511-4415-BD04-D36C9BBB42F0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4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F243A-1F06-4450-978C-028D9D5316FC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614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2932A-8CB6-4E56-A87D-0ABCD719308A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15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2D45F-F13F-4E6A-B795-6D75947CF44D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975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8855-16A3-4ECD-9547-80862FBB5B51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20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4C4BC5C4-ACFF-4762-B7EB-34BCE6B1CCF2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890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0295-E209-4219-BE5B-E0FC11CB0F4A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8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BCF38-0F1E-491B-99F9-1716DF8CA581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733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DCF84-7013-42FD-9F5A-12254A4388E9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398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1937252-EACE-4232-855F-5C47E3F8B0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070901"/>
            <a:ext cx="11265407" cy="1499616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BA6DBC1-39A1-48A6-8B81-3CD966D06E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8055" y="3103684"/>
            <a:ext cx="11274551" cy="3287971"/>
          </a:xfrm>
          <a:solidFill>
            <a:schemeClr val="accent2"/>
          </a:solidFill>
        </p:spPr>
        <p:txBody>
          <a:bodyPr anchor="t" anchorCtr="0"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28195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CA520B1-DC84-A47D-1F5E-CCD567EB2D8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57200" y="2187362"/>
            <a:ext cx="3657600" cy="3633047"/>
          </a:xfrm>
        </p:spPr>
        <p:txBody>
          <a:bodyPr anchor="t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282437" y="2187361"/>
            <a:ext cx="7442203" cy="3633047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/>
          <a:lstStyle/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47C57-4A20-4E2E-A2A2-A4E3845DBFA9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833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E991F98-C793-450B-8EEC-6E137B8B094C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457D222-120F-E222-DE7E-B44B0BC1863F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DF259B-1168-B954-21F8-A08A3C462F3C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5A595C-AA3A-9D82-01BB-7810CE5F7A5E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78CB63-8F78-566B-8120-9DC73FB7B23B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091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7" r:id="rId1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F6E439F-ADF5-55B0-B163-68B9CEEEE8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Fruit Ripeness Detection system</a:t>
            </a:r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4E8C6A53-0CEA-EDD4-3D5C-A891489D7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1" y="725270"/>
            <a:ext cx="10993546" cy="590321"/>
          </a:xfrm>
        </p:spPr>
        <p:txBody>
          <a:bodyPr>
            <a:normAutofit/>
          </a:bodyPr>
          <a:lstStyle/>
          <a:p>
            <a:pPr algn="ctr"/>
            <a:r>
              <a:rPr lang="en-US" sz="2000" dirty="0"/>
              <a:t>CSE 4128: Image Processing &amp; Computer Vision </a:t>
            </a:r>
            <a:r>
              <a:rPr lang="en-US" sz="2000" dirty="0" err="1"/>
              <a:t>LaboRatory</a:t>
            </a:r>
            <a:endParaRPr lang="en-US" sz="2000" dirty="0"/>
          </a:p>
        </p:txBody>
      </p:sp>
      <p:sp>
        <p:nvSpPr>
          <p:cNvPr id="15" name="Subtitle 4">
            <a:extLst>
              <a:ext uri="{FF2B5EF4-FFF2-40B4-BE49-F238E27FC236}">
                <a16:creationId xmlns:a16="http://schemas.microsoft.com/office/drawing/2014/main" id="{B0F6D6CF-8D73-6643-A348-53AAE29FD1C2}"/>
              </a:ext>
            </a:extLst>
          </p:cNvPr>
          <p:cNvSpPr>
            <a:spLocks noGrp="1"/>
          </p:cNvSpPr>
          <p:nvPr/>
        </p:nvSpPr>
        <p:spPr>
          <a:xfrm>
            <a:off x="457200" y="3101689"/>
            <a:ext cx="11267440" cy="3312798"/>
          </a:xfrm>
          <a:prstGeom prst="rect">
            <a:avLst/>
          </a:prstGeom>
          <a:ln/>
        </p:spPr>
        <p:style>
          <a:lnRef idx="2">
            <a:schemeClr val="dk1"/>
          </a:lnRef>
          <a:fillRef idx="1002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US" sz="2100" b="1" dirty="0">
                <a:latin typeface="+mj-lt"/>
              </a:rPr>
              <a:t>PRESENTED BY</a:t>
            </a:r>
          </a:p>
          <a:p>
            <a:pPr lvl="2" algn="l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Sayma </a:t>
            </a:r>
            <a:r>
              <a:rPr lang="en-US" sz="2000" dirty="0" err="1">
                <a:solidFill>
                  <a:schemeClr val="tx1"/>
                </a:solidFill>
                <a:latin typeface="+mj-lt"/>
              </a:rPr>
              <a:t>Mushsharat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  <a:p>
            <a:pPr lvl="2" algn="l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2007036</a:t>
            </a:r>
          </a:p>
          <a:p>
            <a:pPr lvl="2" algn="l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Department of Computer Science and Engineering</a:t>
            </a:r>
            <a:br>
              <a:rPr lang="en-US" sz="2000" dirty="0">
                <a:solidFill>
                  <a:schemeClr val="tx1"/>
                </a:solidFill>
                <a:latin typeface="+mj-lt"/>
              </a:rPr>
            </a:br>
            <a:r>
              <a:rPr lang="en-US" sz="2000" dirty="0">
                <a:solidFill>
                  <a:schemeClr val="tx1"/>
                </a:solidFill>
                <a:latin typeface="+mj-lt"/>
              </a:rPr>
              <a:t>Khulna University of Engineering &amp; Technology (KUET)</a:t>
            </a:r>
          </a:p>
        </p:txBody>
      </p:sp>
      <p:sp>
        <p:nvSpPr>
          <p:cNvPr id="33" name="Date Placeholder 1">
            <a:extLst>
              <a:ext uri="{FF2B5EF4-FFF2-40B4-BE49-F238E27FC236}">
                <a16:creationId xmlns:a16="http://schemas.microsoft.com/office/drawing/2014/main" id="{03E259C5-29D2-BDB8-6FAE-EAA4F7B8C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fld id="{0FBF7135-329F-4148-8674-CA8E4845D713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34" name="Footer Placeholder 3">
            <a:extLst>
              <a:ext uri="{FF2B5EF4-FFF2-40B4-BE49-F238E27FC236}">
                <a16:creationId xmlns:a16="http://schemas.microsoft.com/office/drawing/2014/main" id="{80B3CD65-B137-01C4-6FC2-25CDF9929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CSE 4128: Image Processing and Computer Vision Laboratory</a:t>
            </a:r>
          </a:p>
          <a:p>
            <a:endParaRPr lang="en-US" dirty="0"/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66AA4E4F-1367-A207-B46F-51FBD3412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75908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1A127D9-7FB6-3C31-6D37-4322A4E6F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C6822E-8E9F-3F71-EA24-A12C01FE4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2F255F-2AF3-EBED-24FD-2F95FDE7F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08FFD9-3C7C-E2F8-6F06-A19AE55CE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AEDB67-9240-D049-B6C5-753BF7FBF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C79676-DEE5-DF92-B9A2-6BB219B33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930E4C-9945-F2B6-557F-3E1A572A5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C06F01-B3D1-4EE5-D328-2244C199B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6CB12C-09FE-9982-8DC2-F1CB1F0FD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7135-329F-4148-8674-CA8E4845D713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9EEE13-DA67-4E71-B0A1-D76379640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4128: Image Processing and Computer Vision Laboratory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3F6BD-EBDA-0E33-6BE1-7359776C5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  <p:sp>
        <p:nvSpPr>
          <p:cNvPr id="121" name="Content Placeholder 16">
            <a:extLst>
              <a:ext uri="{FF2B5EF4-FFF2-40B4-BE49-F238E27FC236}">
                <a16:creationId xmlns:a16="http://schemas.microsoft.com/office/drawing/2014/main" id="{6848A98C-D2F1-8F59-5D74-A902C723B5EE}"/>
              </a:ext>
            </a:extLst>
          </p:cNvPr>
          <p:cNvSpPr txBox="1">
            <a:spLocks/>
          </p:cNvSpPr>
          <p:nvPr/>
        </p:nvSpPr>
        <p:spPr>
          <a:xfrm>
            <a:off x="5677633" y="1125807"/>
            <a:ext cx="5700520" cy="43953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 and challenges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34" name="Title 18">
            <a:extLst>
              <a:ext uri="{FF2B5EF4-FFF2-40B4-BE49-F238E27FC236}">
                <a16:creationId xmlns:a16="http://schemas.microsoft.com/office/drawing/2014/main" id="{39C19CB8-0CE5-9C6C-778E-921413D2F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044" y="2573517"/>
            <a:ext cx="4333861" cy="1102936"/>
          </a:xfrm>
        </p:spPr>
        <p:txBody>
          <a:bodyPr>
            <a:noAutofit/>
          </a:bodyPr>
          <a:lstStyle/>
          <a:p>
            <a:r>
              <a:rPr lang="en-US" b="1" dirty="0"/>
              <a:t>Contents of </a:t>
            </a:r>
            <a:br>
              <a:rPr lang="en-US" b="1" dirty="0"/>
            </a:br>
            <a:r>
              <a:rPr lang="en-US" b="1" dirty="0"/>
              <a:t>Presentation</a:t>
            </a:r>
          </a:p>
        </p:txBody>
      </p:sp>
      <p:sp>
        <p:nvSpPr>
          <p:cNvPr id="135" name="AutoShape 3">
            <a:extLst>
              <a:ext uri="{FF2B5EF4-FFF2-40B4-BE49-F238E27FC236}">
                <a16:creationId xmlns:a16="http://schemas.microsoft.com/office/drawing/2014/main" id="{2A6DD61A-74A3-A6CB-94CE-FE6EC4FC5949}"/>
              </a:ext>
            </a:extLst>
          </p:cNvPr>
          <p:cNvSpPr/>
          <p:nvPr/>
        </p:nvSpPr>
        <p:spPr>
          <a:xfrm>
            <a:off x="5687060" y="1749208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6" name="AutoShape 3">
            <a:extLst>
              <a:ext uri="{FF2B5EF4-FFF2-40B4-BE49-F238E27FC236}">
                <a16:creationId xmlns:a16="http://schemas.microsoft.com/office/drawing/2014/main" id="{6B78AB2E-528A-D300-3922-80AC706A797D}"/>
              </a:ext>
            </a:extLst>
          </p:cNvPr>
          <p:cNvSpPr/>
          <p:nvPr/>
        </p:nvSpPr>
        <p:spPr>
          <a:xfrm>
            <a:off x="5696487" y="2314818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7" name="AutoShape 3">
            <a:extLst>
              <a:ext uri="{FF2B5EF4-FFF2-40B4-BE49-F238E27FC236}">
                <a16:creationId xmlns:a16="http://schemas.microsoft.com/office/drawing/2014/main" id="{DBADD4FA-52BB-468F-F164-6AADB99642B7}"/>
              </a:ext>
            </a:extLst>
          </p:cNvPr>
          <p:cNvSpPr/>
          <p:nvPr/>
        </p:nvSpPr>
        <p:spPr>
          <a:xfrm>
            <a:off x="5687060" y="2844292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8" name="AutoShape 3">
            <a:extLst>
              <a:ext uri="{FF2B5EF4-FFF2-40B4-BE49-F238E27FC236}">
                <a16:creationId xmlns:a16="http://schemas.microsoft.com/office/drawing/2014/main" id="{6097679D-5983-2257-A323-DAF1935C79F6}"/>
              </a:ext>
            </a:extLst>
          </p:cNvPr>
          <p:cNvSpPr/>
          <p:nvPr/>
        </p:nvSpPr>
        <p:spPr>
          <a:xfrm>
            <a:off x="5687060" y="3427186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9" name="AutoShape 3">
            <a:extLst>
              <a:ext uri="{FF2B5EF4-FFF2-40B4-BE49-F238E27FC236}">
                <a16:creationId xmlns:a16="http://schemas.microsoft.com/office/drawing/2014/main" id="{9BB2F48D-6765-502F-3FF7-004CF116F129}"/>
              </a:ext>
            </a:extLst>
          </p:cNvPr>
          <p:cNvSpPr/>
          <p:nvPr/>
        </p:nvSpPr>
        <p:spPr>
          <a:xfrm>
            <a:off x="5677633" y="5189996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0" name="AutoShape 3">
            <a:extLst>
              <a:ext uri="{FF2B5EF4-FFF2-40B4-BE49-F238E27FC236}">
                <a16:creationId xmlns:a16="http://schemas.microsoft.com/office/drawing/2014/main" id="{168050B2-B0ED-80BB-A72D-A17F9349E622}"/>
              </a:ext>
            </a:extLst>
          </p:cNvPr>
          <p:cNvSpPr/>
          <p:nvPr/>
        </p:nvSpPr>
        <p:spPr>
          <a:xfrm>
            <a:off x="5687226" y="4087057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1" name="AutoShape 3">
            <a:extLst>
              <a:ext uri="{FF2B5EF4-FFF2-40B4-BE49-F238E27FC236}">
                <a16:creationId xmlns:a16="http://schemas.microsoft.com/office/drawing/2014/main" id="{DA10EF65-C7A8-9525-EEC8-92E8F3EDF128}"/>
              </a:ext>
            </a:extLst>
          </p:cNvPr>
          <p:cNvSpPr/>
          <p:nvPr/>
        </p:nvSpPr>
        <p:spPr>
          <a:xfrm>
            <a:off x="5687060" y="4652668"/>
            <a:ext cx="4674735" cy="0"/>
          </a:xfrm>
          <a:prstGeom prst="line">
            <a:avLst/>
          </a:prstGeom>
          <a:ln w="19050" cap="flat">
            <a:solidFill>
              <a:srgbClr val="473D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F738FA56-4354-3D35-F840-898448BCF11D}"/>
              </a:ext>
            </a:extLst>
          </p:cNvPr>
          <p:cNvSpPr txBox="1"/>
          <p:nvPr/>
        </p:nvSpPr>
        <p:spPr>
          <a:xfrm>
            <a:off x="9973559" y="124947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03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2AF19AC3-1D82-00F1-7BFA-1FD303E494A5}"/>
              </a:ext>
            </a:extLst>
          </p:cNvPr>
          <p:cNvSpPr txBox="1"/>
          <p:nvPr/>
        </p:nvSpPr>
        <p:spPr>
          <a:xfrm>
            <a:off x="9973559" y="184587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04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F911C13-FFD2-3171-364C-2D64DD2CF941}"/>
              </a:ext>
            </a:extLst>
          </p:cNvPr>
          <p:cNvSpPr txBox="1"/>
          <p:nvPr/>
        </p:nvSpPr>
        <p:spPr>
          <a:xfrm>
            <a:off x="9973559" y="242886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05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16EC124-4A09-558F-8337-821B4D605F19}"/>
              </a:ext>
            </a:extLst>
          </p:cNvPr>
          <p:cNvSpPr txBox="1"/>
          <p:nvPr/>
        </p:nvSpPr>
        <p:spPr>
          <a:xfrm>
            <a:off x="9953130" y="295834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07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0B5159BE-FD22-27C8-F6C2-AE73DACAC7D5}"/>
              </a:ext>
            </a:extLst>
          </p:cNvPr>
          <p:cNvSpPr txBox="1"/>
          <p:nvPr/>
        </p:nvSpPr>
        <p:spPr>
          <a:xfrm>
            <a:off x="9953130" y="357108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8F9E155-AD1D-8308-6453-8C4FE93E6292}"/>
              </a:ext>
            </a:extLst>
          </p:cNvPr>
          <p:cNvSpPr txBox="1"/>
          <p:nvPr/>
        </p:nvSpPr>
        <p:spPr>
          <a:xfrm>
            <a:off x="9953130" y="420110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332DF397-0FBC-C46C-D116-1A878375084D}"/>
              </a:ext>
            </a:extLst>
          </p:cNvPr>
          <p:cNvSpPr txBox="1"/>
          <p:nvPr/>
        </p:nvSpPr>
        <p:spPr>
          <a:xfrm>
            <a:off x="9949979" y="480399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17981711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0DD8B-1A96-F5D5-2C98-24D8F9F98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A8B0CC-1E62-0D17-96A7-CB8D21D09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292587-7FC4-4567-A578-F5E0F1D68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0040EE-2BB0-363A-69B7-E936F3854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544B93-9B86-C2F4-C230-D80B8433F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6B62C4-DB93-40C9-E5DF-96819BFBE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9DCECB-2949-22EE-9BD8-14BF789F4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56B0F7-6387-5FD5-5A39-2EB66DF2C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C02545-7D35-1015-E4A7-93907C629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997DFBB-CE91-0644-44E2-80C25D62B2E7}"/>
              </a:ext>
            </a:extLst>
          </p:cNvPr>
          <p:cNvSpPr>
            <a:spLocks/>
          </p:cNvSpPr>
          <p:nvPr/>
        </p:nvSpPr>
        <p:spPr>
          <a:xfrm>
            <a:off x="4329788" y="935029"/>
            <a:ext cx="3527402" cy="55043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8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+mj-lt"/>
              </a:rPr>
              <a:t>INTRODUCTION</a:t>
            </a:r>
            <a:endParaRPr lang="en-US" sz="3200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+mj-lt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67E99A-8A65-4CCD-2D80-FE6EF935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1AB71-F0C9-409A-942A-3D8DB2F5F654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5BC7D9-3835-B70C-F824-A04472DBA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4128: Image Processing and Computer Vision Laboratory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B2211-4FE5-363E-CFD4-292A294F6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133CA0-55AC-17B0-E85A-90FE05124D19}"/>
              </a:ext>
            </a:extLst>
          </p:cNvPr>
          <p:cNvSpPr txBox="1"/>
          <p:nvPr/>
        </p:nvSpPr>
        <p:spPr>
          <a:xfrm>
            <a:off x="901217" y="1832031"/>
            <a:ext cx="10842049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Fruit Ripeness Detection automates the detection of fruit ripeness using classical image processing techniques focusing on color and texture analysis to classify fruits as </a:t>
            </a:r>
            <a:r>
              <a:rPr lang="en-US" sz="2000" b="1" dirty="0"/>
              <a:t>Unripe, Ripe </a:t>
            </a:r>
            <a:r>
              <a:rPr lang="en-US" sz="2000" dirty="0"/>
              <a:t>or</a:t>
            </a:r>
            <a:r>
              <a:rPr lang="en-US" sz="2000" b="1" dirty="0"/>
              <a:t> Overripe</a:t>
            </a:r>
            <a:r>
              <a:rPr lang="en-US" sz="2000" dirty="0"/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Used in agriculture, food quality control, supply chain management, and fruit sorting to improve accuracy and streamline processes.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Combines color segmentation (HSV), edge detection, morphological operations, and texture analysis to classify fruit ripeness.</a:t>
            </a:r>
            <a:endParaRPr lang="en-US" sz="2400" b="1" dirty="0">
              <a:solidFill>
                <a:srgbClr val="0D0D0D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42318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1A127D9-7FB6-3C31-6D37-4322A4E6F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C6822E-8E9F-3F71-EA24-A12C01FE4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2F255F-2AF3-EBED-24FD-2F95FDE7F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08FFD9-3C7C-E2F8-6F06-A19AE55CE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AEDB67-9240-D049-B6C5-753BF7FBF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C79676-DEE5-DF92-B9A2-6BB219B33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930E4C-9945-F2B6-557F-3E1A572A5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C06F01-B3D1-4EE5-D328-2244C199B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F6DBBBF3-A39D-05A4-6C00-C70FDBC8A4AF}"/>
              </a:ext>
            </a:extLst>
          </p:cNvPr>
          <p:cNvSpPr>
            <a:spLocks/>
          </p:cNvSpPr>
          <p:nvPr/>
        </p:nvSpPr>
        <p:spPr>
          <a:xfrm>
            <a:off x="3365872" y="795661"/>
            <a:ext cx="5966663" cy="696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800" b="1" dirty="0">
                <a:highlight>
                  <a:srgbClr val="FFFFFF"/>
                </a:highlight>
                <a:latin typeface="+mj-lt"/>
              </a:rPr>
              <a:t>OBJECTIVE</a:t>
            </a:r>
            <a:endParaRPr lang="en-US" sz="3200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47602A-3522-0528-29F6-59120AD9695E}"/>
              </a:ext>
            </a:extLst>
          </p:cNvPr>
          <p:cNvSpPr txBox="1"/>
          <p:nvPr/>
        </p:nvSpPr>
        <p:spPr>
          <a:xfrm>
            <a:off x="751788" y="1902076"/>
            <a:ext cx="10683404" cy="280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Classify fruit into three categories: Unripe, Ripe, and Overripe, based on visual cues (color, texture).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Provide an interactive platform for users to upload fruit images and view results.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Ensure the system works across different fruit types, sizes, and orientations.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Display intermediate processing steps in real-time including color space conversion, segmentation, and texture analysis.</a:t>
            </a:r>
            <a:endParaRPr lang="en-US" sz="20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27FC67-3667-0452-22FA-A7DBAFFA2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CF11-6BE4-409F-AC1B-A657970C673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C36F5B-0BED-3608-E6AD-61EFB1B3F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4128: Image Processing and Computer Vision Laboratory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15557-7ADD-CDA9-1349-0761E8F5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61079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1A127D9-7FB6-3C31-6D37-4322A4E6F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C6822E-8E9F-3F71-EA24-A12C01FE4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2F255F-2AF3-EBED-24FD-2F95FDE7F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08FFD9-3C7C-E2F8-6F06-A19AE55CE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AEDB67-9240-D049-B6C5-753BF7FBF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C79676-DEE5-DF92-B9A2-6BB219B33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930E4C-9945-F2B6-557F-3E1A572A5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C06F01-B3D1-4EE5-D328-2244C199B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F6DBBBF3-A39D-05A4-6C00-C70FDBC8A4AF}"/>
              </a:ext>
            </a:extLst>
          </p:cNvPr>
          <p:cNvSpPr>
            <a:spLocks/>
          </p:cNvSpPr>
          <p:nvPr/>
        </p:nvSpPr>
        <p:spPr>
          <a:xfrm>
            <a:off x="669789" y="1208623"/>
            <a:ext cx="10849766" cy="465808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8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+mj-lt"/>
              </a:rPr>
              <a:t>TOOLS USED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47602A-3522-0528-29F6-59120AD9695E}"/>
              </a:ext>
            </a:extLst>
          </p:cNvPr>
          <p:cNvSpPr txBox="1"/>
          <p:nvPr/>
        </p:nvSpPr>
        <p:spPr>
          <a:xfrm>
            <a:off x="1249136" y="1853293"/>
            <a:ext cx="10270419" cy="280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Python: The programming language used for development.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OpenCV: For core image processing tasks such as segmentation and color-based classification.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NumPy: For numerical operations and efficient handling of image data.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err="1"/>
              <a:t>Tkinter</a:t>
            </a:r>
            <a:r>
              <a:rPr lang="en-US" sz="2000" dirty="0"/>
              <a:t>: For the graphical user interface (GUI).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PIL / Pillow: For handling and processing images.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Matplotlib: For displaying intermediate steps and final outputs.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D50CDA-89BD-E534-4F62-94D88BA18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3F60A-B7F6-4EFE-9687-0E1AC6CF009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8804B-3F43-C920-0673-D372F6105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4128: Image Processing and Computer Vision Laboratory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81F969-4826-4E51-1248-44A76674A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47079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1A127D9-7FB6-3C31-6D37-4322A4E6F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C6822E-8E9F-3F71-EA24-A12C01FE4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2F255F-2AF3-EBED-24FD-2F95FDE7F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08FFD9-3C7C-E2F8-6F06-A19AE55CE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AEDB67-9240-D049-B6C5-753BF7FBF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C79676-DEE5-DF92-B9A2-6BB219B33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930E4C-9945-F2B6-557F-3E1A572A5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C06F01-B3D1-4EE5-D328-2244C199B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F6DBBBF3-A39D-05A4-6C00-C70FDBC8A4AF}"/>
              </a:ext>
            </a:extLst>
          </p:cNvPr>
          <p:cNvSpPr>
            <a:spLocks/>
          </p:cNvSpPr>
          <p:nvPr/>
        </p:nvSpPr>
        <p:spPr>
          <a:xfrm>
            <a:off x="446533" y="1276348"/>
            <a:ext cx="11296733" cy="52417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800" b="1" dirty="0">
                <a:highlight>
                  <a:srgbClr val="FFFFFF"/>
                </a:highlight>
                <a:latin typeface="+mj-lt"/>
              </a:rPr>
              <a:t>SYSTEM OVERVIEW</a:t>
            </a:r>
            <a:endParaRPr lang="en-US" sz="2800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+mj-lt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D047A3-B41D-C18E-7875-04DA6BFD3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78BBB-D767-49E1-99F7-A7361DFDAF3D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D62AF-8719-F176-7B4B-71CBCED1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4128: Image Processing and Computer Vision Laboratory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44A4D4-973A-7601-4FDD-DC8F07F04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6CC9A191-61E3-CA49-ABB9-E6B30FE9E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4532" y="1832178"/>
            <a:ext cx="8586880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2000" b="1" dirty="0"/>
              <a:t>Image Preprocessing: </a:t>
            </a:r>
            <a:r>
              <a:rPr lang="en-US" sz="2000" dirty="0"/>
              <a:t>Convert to HSV color space and apply Gaussian blur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2000" b="1" dirty="0"/>
              <a:t>Fruit Segmentation: </a:t>
            </a:r>
            <a:r>
              <a:rPr lang="en-US" sz="2000" dirty="0"/>
              <a:t>Isolate fruit from background using edge detection and contours.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2000" b="1" dirty="0"/>
              <a:t>Color-Based Segmentation: </a:t>
            </a:r>
            <a:r>
              <a:rPr lang="en-US" sz="2000" dirty="0"/>
              <a:t>Classify pixels as unripe, ripe, or overripe based on HSV ranges.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2000" b="1" dirty="0"/>
              <a:t>Texture Analysis: </a:t>
            </a:r>
            <a:r>
              <a:rPr lang="en-US" sz="2000" dirty="0"/>
              <a:t>Calculate local variance to detect spots and wrinkles.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2000" b="1" dirty="0"/>
              <a:t>Final Classification: </a:t>
            </a:r>
            <a:r>
              <a:rPr lang="en-US" sz="2000" dirty="0"/>
              <a:t>Combine both results and then classify the fruits.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72071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1A127D9-7FB6-3C31-6D37-4322A4E6F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C6822E-8E9F-3F71-EA24-A12C01FE4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2F255F-2AF3-EBED-24FD-2F95FDE7F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08FFD9-3C7C-E2F8-6F06-A19AE55CE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AEDB67-9240-D049-B6C5-753BF7FBF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C79676-DEE5-DF92-B9A2-6BB219B33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930E4C-9945-F2B6-557F-3E1A572A5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C06F01-B3D1-4EE5-D328-2244C199B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F6DBBBF3-A39D-05A4-6C00-C70FDBC8A4AF}"/>
              </a:ext>
            </a:extLst>
          </p:cNvPr>
          <p:cNvSpPr>
            <a:spLocks/>
          </p:cNvSpPr>
          <p:nvPr/>
        </p:nvSpPr>
        <p:spPr>
          <a:xfrm>
            <a:off x="457200" y="746721"/>
            <a:ext cx="11267440" cy="458231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800" b="1" dirty="0">
                <a:highlight>
                  <a:srgbClr val="FFFFFF"/>
                </a:highlight>
                <a:latin typeface="+mj-lt"/>
              </a:rPr>
              <a:t>METHODOLOGY</a:t>
            </a:r>
            <a:endParaRPr lang="en-US" sz="2800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47602A-3522-0528-29F6-59120AD9695E}"/>
              </a:ext>
            </a:extLst>
          </p:cNvPr>
          <p:cNvSpPr txBox="1"/>
          <p:nvPr/>
        </p:nvSpPr>
        <p:spPr>
          <a:xfrm>
            <a:off x="467360" y="1399476"/>
            <a:ext cx="6236586" cy="3731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Interface: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 UI is designed to be simple and intuitive with the help of </a:t>
            </a:r>
            <a:r>
              <a:rPr lang="en-US" sz="2000" dirty="0" err="1"/>
              <a:t>tkinter</a:t>
            </a:r>
            <a:r>
              <a:rPr lang="en-US" sz="2000" dirty="0"/>
              <a:t> framework, providing the user with the following functionalities: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• Image Upload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• Ripeness Analysis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• Real-Time Visualization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• Classification Results</a:t>
            </a:r>
            <a:endParaRPr lang="en-US" sz="2000" b="1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938357-4B66-7AAC-522D-5F0399982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B4132-5EDF-4DAA-9A73-113813D1E0E7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A66E18-4E7C-F7B0-45A0-D2DB8B8E5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4128: Image Processing and Computer Vision Laboratory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F1BBD0-2B34-71B2-DF4F-F36C7CE3C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CA99A-0F29-4825-B62A-7F353F9B154E}"/>
              </a:ext>
            </a:extLst>
          </p:cNvPr>
          <p:cNvSpPr txBox="1"/>
          <p:nvPr/>
        </p:nvSpPr>
        <p:spPr>
          <a:xfrm>
            <a:off x="9144000" y="2057400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A2E19FD-3DC1-4545-AAC3-4A096B20D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758" y="1836964"/>
            <a:ext cx="5060069" cy="320856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F44546D-D73B-4F6F-8F76-0790949912CC}"/>
              </a:ext>
            </a:extLst>
          </p:cNvPr>
          <p:cNvSpPr txBox="1"/>
          <p:nvPr/>
        </p:nvSpPr>
        <p:spPr>
          <a:xfrm>
            <a:off x="8515350" y="5265964"/>
            <a:ext cx="2131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1 :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89491618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34BE-57FA-9012-1E49-15AA2E98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261451-61CD-020F-7C9F-EA718BFEB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DC35E6-97A9-EDF2-5E3C-8FA07BB31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72649D-1FB0-A581-C7AF-7BBE6DA85B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1D0E77-2E59-E15B-6610-9A9249D51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1C9773-D55A-1260-76BD-8A8726962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14051E-C09F-8086-3CA7-49B2116FA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B3876F-2B7E-9F2A-FC2F-7CCDD8B20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FAB87F-703D-7202-952D-06FD684DF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A9B5C94-0869-CF45-476A-3C07A5EB9058}"/>
              </a:ext>
            </a:extLst>
          </p:cNvPr>
          <p:cNvSpPr>
            <a:spLocks/>
          </p:cNvSpPr>
          <p:nvPr/>
        </p:nvSpPr>
        <p:spPr>
          <a:xfrm>
            <a:off x="446533" y="723096"/>
            <a:ext cx="11028838" cy="458231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800" b="1" dirty="0">
                <a:highlight>
                  <a:srgbClr val="FFFFFF"/>
                </a:highlight>
                <a:latin typeface="+mj-lt"/>
              </a:rPr>
              <a:t>METHODOLOGY</a:t>
            </a:r>
            <a:endParaRPr lang="en-US" sz="2800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78E798-C10E-D670-A689-1B6553FA0B55}"/>
              </a:ext>
            </a:extLst>
          </p:cNvPr>
          <p:cNvSpPr txBox="1"/>
          <p:nvPr/>
        </p:nvSpPr>
        <p:spPr>
          <a:xfrm flipV="1">
            <a:off x="1341681" y="3420441"/>
            <a:ext cx="4034627" cy="4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041D81-D1E4-4EEF-71F7-62A7A43C3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E291-9B6C-43C6-B07C-7D77CD6AB2F1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8E40D-A990-25B3-A0D9-4FC1F428D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4128: Image Processing and Computer Vision Laboratory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F7A1B-0657-BA78-8C1E-E59C3C10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41E19E-6AC1-46B5-A96E-2C9A1C69B856}"/>
              </a:ext>
            </a:extLst>
          </p:cNvPr>
          <p:cNvSpPr txBox="1"/>
          <p:nvPr/>
        </p:nvSpPr>
        <p:spPr>
          <a:xfrm>
            <a:off x="587829" y="1480274"/>
            <a:ext cx="517615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Image Preprocessing:</a:t>
            </a:r>
          </a:p>
          <a:p>
            <a:endParaRPr lang="en-US" sz="2000" b="1" dirty="0"/>
          </a:p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Color Space Conversion:</a:t>
            </a:r>
            <a:r>
              <a:rPr lang="en-US" sz="2000" dirty="0"/>
              <a:t> Convert image from BGR to HSV for better color segmentation.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Gaussian Blur:</a:t>
            </a:r>
            <a:r>
              <a:rPr lang="en-US" sz="2000" dirty="0"/>
              <a:t> Apply Gaussian blur to reduce noise and enhance edge detection.</a:t>
            </a:r>
            <a:endParaRPr lang="en-US" sz="2000" b="1" dirty="0"/>
          </a:p>
          <a:p>
            <a:endParaRPr lang="en-US" sz="20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004DCF-A0FC-492F-AB94-1B9D6E46CD2D}"/>
              </a:ext>
            </a:extLst>
          </p:cNvPr>
          <p:cNvSpPr txBox="1"/>
          <p:nvPr/>
        </p:nvSpPr>
        <p:spPr>
          <a:xfrm>
            <a:off x="7845879" y="2212521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08D472E-1FC1-4466-9EED-5C3C603AB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523" y="1578828"/>
            <a:ext cx="5456766" cy="341771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24AFDDA-BD05-4921-BD66-702D34774E68}"/>
              </a:ext>
            </a:extLst>
          </p:cNvPr>
          <p:cNvSpPr txBox="1"/>
          <p:nvPr/>
        </p:nvSpPr>
        <p:spPr>
          <a:xfrm>
            <a:off x="7021286" y="5078186"/>
            <a:ext cx="3216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2 : Image Preprocessing</a:t>
            </a:r>
          </a:p>
        </p:txBody>
      </p:sp>
    </p:spTree>
    <p:extLst>
      <p:ext uri="{BB962C8B-B14F-4D97-AF65-F5344CB8AC3E}">
        <p14:creationId xmlns:p14="http://schemas.microsoft.com/office/powerpoint/2010/main" val="323568918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B7A71-8412-F1F6-EAED-EDCAD0AD6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24446B-11C6-91F4-8663-855739481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188BCB-65ED-BF2E-7160-FEF08566A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6DDA91-B5BE-0815-C514-C21353E46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15D0D4-692A-BE3D-458B-F5FB5D12A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9215BA-8567-F20C-8A66-8ED2E9CAF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22307C-9F9E-B8C8-8391-9A237DFA9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C428E7-1C61-FD29-024E-6001F340C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5B0880-D9EF-30B7-5721-5068B2464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0904CF8C-D1B7-1C0C-7A60-E3C8A39757BA}"/>
              </a:ext>
            </a:extLst>
          </p:cNvPr>
          <p:cNvSpPr>
            <a:spLocks/>
          </p:cNvSpPr>
          <p:nvPr/>
        </p:nvSpPr>
        <p:spPr>
          <a:xfrm>
            <a:off x="446532" y="987758"/>
            <a:ext cx="11296733" cy="458231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800" b="1" dirty="0">
                <a:highlight>
                  <a:srgbClr val="FFFFFF"/>
                </a:highlight>
                <a:latin typeface="+mj-lt"/>
              </a:rPr>
              <a:t>METHODOLOGY</a:t>
            </a:r>
            <a:endParaRPr lang="en-US" sz="2800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D12583-C295-6047-0D44-2E4F3E84F87D}"/>
              </a:ext>
            </a:extLst>
          </p:cNvPr>
          <p:cNvSpPr txBox="1"/>
          <p:nvPr/>
        </p:nvSpPr>
        <p:spPr>
          <a:xfrm>
            <a:off x="848119" y="1695819"/>
            <a:ext cx="6603469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Fruit Segmentation: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Canny Edge Detection:</a:t>
            </a:r>
            <a:r>
              <a:rPr lang="en-US" sz="2000" dirty="0"/>
              <a:t> Detects edges by identifying areas with high intensity changes.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Contour Detection:</a:t>
            </a:r>
            <a:r>
              <a:rPr lang="en-US" sz="2000" dirty="0"/>
              <a:t> Detects and isolates the fruit from the background.</a:t>
            </a:r>
            <a:endParaRPr lang="en-US" sz="2000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Dilation:</a:t>
            </a:r>
            <a:r>
              <a:rPr lang="en-US" sz="2000" dirty="0"/>
              <a:t> Helps fill in gaps and solidify contours.</a:t>
            </a:r>
            <a:endParaRPr lang="en-US" sz="2000" b="1" dirty="0">
              <a:solidFill>
                <a:srgbClr val="0D0D0D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6C05A5-0C3B-2454-4D58-FDF414945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6EBBD-F2E6-44A1-B859-5865BE6C6C1A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481D97-A3B8-56CA-01C1-A120741D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4128: Image Processing and Computer Vision Laboratory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657F15-16D6-6CCD-50E6-6595C729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7F931E-8AC3-44FA-A363-380FA9C17BB2}"/>
              </a:ext>
            </a:extLst>
          </p:cNvPr>
          <p:cNvSpPr txBox="1"/>
          <p:nvPr/>
        </p:nvSpPr>
        <p:spPr>
          <a:xfrm>
            <a:off x="8458200" y="2130879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492615-B326-4FF7-A371-D91CE0B75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588" y="2175465"/>
            <a:ext cx="4219664" cy="227407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941BD94-4506-404D-A44E-ED64F78F779F}"/>
              </a:ext>
            </a:extLst>
          </p:cNvPr>
          <p:cNvSpPr txBox="1"/>
          <p:nvPr/>
        </p:nvSpPr>
        <p:spPr>
          <a:xfrm>
            <a:off x="8042148" y="4604657"/>
            <a:ext cx="2966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3 : Fruit Segmentation</a:t>
            </a:r>
          </a:p>
        </p:txBody>
      </p:sp>
    </p:spTree>
    <p:extLst>
      <p:ext uri="{BB962C8B-B14F-4D97-AF65-F5344CB8AC3E}">
        <p14:creationId xmlns:p14="http://schemas.microsoft.com/office/powerpoint/2010/main" val="350591442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0F872-5FF7-5990-483C-35E116863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55ECF30-7A69-BFD8-69CB-797992904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8AF338-3718-CA54-CFC2-6CB870D12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86789A-23D1-1986-8B30-B8CA48858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65EA6D-75DC-2FC9-F82A-000E0E0F9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A4F02E-8947-23A9-CE0C-26C19C59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050AC3-8774-5179-7BE9-FF273F502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F3E5F5-4877-742C-397B-3A477F8D2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5C28D1-8535-DD1F-5023-DD50515D3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69A3407-22B2-9C8B-6D5B-86AE4B4AB53E}"/>
              </a:ext>
            </a:extLst>
          </p:cNvPr>
          <p:cNvSpPr>
            <a:spLocks/>
          </p:cNvSpPr>
          <p:nvPr/>
        </p:nvSpPr>
        <p:spPr>
          <a:xfrm>
            <a:off x="714428" y="991105"/>
            <a:ext cx="11028838" cy="458231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800" b="1" dirty="0">
                <a:highlight>
                  <a:srgbClr val="FFFFFF"/>
                </a:highlight>
                <a:latin typeface="+mj-lt"/>
              </a:rPr>
              <a:t>METHODOLOGY</a:t>
            </a:r>
            <a:endParaRPr lang="en-US" sz="2800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DAAD78-FF58-AAE7-81AE-32F95634387B}"/>
              </a:ext>
            </a:extLst>
          </p:cNvPr>
          <p:cNvSpPr txBox="1"/>
          <p:nvPr/>
        </p:nvSpPr>
        <p:spPr>
          <a:xfrm>
            <a:off x="865414" y="1681843"/>
            <a:ext cx="7702789" cy="3269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Ripeness Mask Generation: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Unripe Mask:</a:t>
            </a:r>
            <a:r>
              <a:rPr lang="en-US" sz="2000" dirty="0"/>
              <a:t> Detects green hues (40°–85°) with low saturation and high brightness to represent unripe fruits.</a:t>
            </a:r>
            <a:endParaRPr lang="en-US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Ripe Mask:</a:t>
            </a:r>
            <a:r>
              <a:rPr lang="en-US" sz="2000" dirty="0"/>
              <a:t> Identifies red (0°–10°) and yellow (15°–50°) hues with high saturation and brightness for ripe fruits.</a:t>
            </a:r>
            <a:endParaRPr lang="en-US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Overripe Mask:</a:t>
            </a:r>
            <a:r>
              <a:rPr lang="en-US" sz="2000" dirty="0"/>
              <a:t> Detects dark hues (5°–35°) and low brightness (value &lt; 100) to identify overripe fruits.</a:t>
            </a:r>
            <a:endParaRPr lang="en-US" sz="20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D7A3F6-E141-EC2D-9335-653AE79F9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7EAE-2EAA-485A-9D75-25F1F1E392E4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806FD0-E6B9-4463-A147-DF957CE34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4128: Image Processing and Computer Vision Laboratory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F2312-56BF-447A-A5D7-9CE2F93CD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42908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1A127D9-7FB6-3C31-6D37-4322A4E6F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C6822E-8E9F-3F71-EA24-A12C01FE4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2F255F-2AF3-EBED-24FD-2F95FDE7F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08FFD9-3C7C-E2F8-6F06-A19AE55CE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AEDB67-9240-D049-B6C5-753BF7FBF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C79676-DEE5-DF92-B9A2-6BB219B33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930E4C-9945-F2B6-557F-3E1A572A5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C06F01-B3D1-4EE5-D328-2244C199B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F6DBBBF3-A39D-05A4-6C00-C70FDBC8A4AF}"/>
              </a:ext>
            </a:extLst>
          </p:cNvPr>
          <p:cNvSpPr>
            <a:spLocks/>
          </p:cNvSpPr>
          <p:nvPr/>
        </p:nvSpPr>
        <p:spPr>
          <a:xfrm>
            <a:off x="457200" y="776724"/>
            <a:ext cx="11267440" cy="458231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800" b="1" dirty="0">
                <a:highlight>
                  <a:srgbClr val="FFFFFF"/>
                </a:highlight>
                <a:latin typeface="+mj-lt"/>
              </a:rPr>
              <a:t>METHODOLOGY</a:t>
            </a:r>
            <a:endParaRPr lang="en-US" sz="2800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+mj-lt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3DC961-43BD-344F-76A0-68C3F17CE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48B95-5AA2-4FAA-A4BC-7C98DC346AED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1F7FB-8740-59D3-2C9D-39367D320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4128: Image Processing and Computer Vision Laboratory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910E4-4C48-0CE6-0A3B-C1DAA5971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11</a:t>
            </a:fld>
            <a:endParaRPr lang="en-US" dirty="0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03E32FC2-F86E-BC72-6ED1-B309B4C6B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15" y="1869864"/>
            <a:ext cx="6400800" cy="2346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b="1" dirty="0"/>
              <a:t>HSV </a:t>
            </a:r>
            <a:r>
              <a:rPr lang="en-US" sz="2000" b="1" dirty="0" err="1"/>
              <a:t>Thresholding:</a:t>
            </a:r>
            <a:r>
              <a:rPr lang="en-US" sz="2000" dirty="0" err="1"/>
              <a:t>Applied</a:t>
            </a:r>
            <a:r>
              <a:rPr lang="en-US" sz="2000" dirty="0"/>
              <a:t> to Hue, Saturation, and Value channels to generate the unripe, ripe, and overripe masks using cv2.range().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b="1" dirty="0"/>
              <a:t>Morphological Operations:</a:t>
            </a:r>
            <a:r>
              <a:rPr lang="en-US" sz="2000" dirty="0"/>
              <a:t> Dilation fills gaps and erosion removes noise to refine the masks.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DD1204-60C2-45EE-B8A1-F1EB4D557BD8}"/>
              </a:ext>
            </a:extLst>
          </p:cNvPr>
          <p:cNvSpPr txBox="1"/>
          <p:nvPr/>
        </p:nvSpPr>
        <p:spPr>
          <a:xfrm>
            <a:off x="8768443" y="2473779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508B7ED-D2F3-443F-ADB4-FCDCAE297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365" y="1819852"/>
            <a:ext cx="3559628" cy="307335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4DC291B-8A7E-46C4-88FF-1236D7A5BFD4}"/>
              </a:ext>
            </a:extLst>
          </p:cNvPr>
          <p:cNvSpPr txBox="1"/>
          <p:nvPr/>
        </p:nvSpPr>
        <p:spPr>
          <a:xfrm>
            <a:off x="8002764" y="5054700"/>
            <a:ext cx="2432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4 : Ripeness Mask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7968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1A127D9-7FB6-3C31-6D37-4322A4E6F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C6822E-8E9F-3F71-EA24-A12C01FE4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2F255F-2AF3-EBED-24FD-2F95FDE7F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08FFD9-3C7C-E2F8-6F06-A19AE55CE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AEDB67-9240-D049-B6C5-753BF7FBF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C79676-DEE5-DF92-B9A2-6BB219B33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930E4C-9945-F2B6-557F-3E1A572A5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C06F01-B3D1-4EE5-D328-2244C199B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F6DBBBF3-A39D-05A4-6C00-C70FDBC8A4AF}"/>
              </a:ext>
            </a:extLst>
          </p:cNvPr>
          <p:cNvSpPr>
            <a:spLocks/>
          </p:cNvSpPr>
          <p:nvPr/>
        </p:nvSpPr>
        <p:spPr>
          <a:xfrm>
            <a:off x="622451" y="801515"/>
            <a:ext cx="10946341" cy="458231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800" b="1" dirty="0">
                <a:highlight>
                  <a:srgbClr val="FFFFFF"/>
                </a:highlight>
                <a:latin typeface="+mj-lt"/>
              </a:rPr>
              <a:t>METHODOLOGY</a:t>
            </a:r>
            <a:endParaRPr lang="en-US" sz="2800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+mj-lt"/>
            </a:endParaRPr>
          </a:p>
          <a:p>
            <a:endParaRPr lang="en-US" sz="2800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47602A-3522-0528-29F6-59120AD9695E}"/>
              </a:ext>
            </a:extLst>
          </p:cNvPr>
          <p:cNvSpPr txBox="1"/>
          <p:nvPr/>
        </p:nvSpPr>
        <p:spPr>
          <a:xfrm>
            <a:off x="848120" y="1509064"/>
            <a:ext cx="59863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/>
              <a:t>Color Segmentation :</a:t>
            </a:r>
          </a:p>
          <a:p>
            <a:pPr algn="l"/>
            <a:endParaRPr lang="en-US" sz="20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/>
              <a:t>Unripe:</a:t>
            </a:r>
            <a:r>
              <a:rPr lang="en-US" sz="2000" dirty="0"/>
              <a:t> Green, low saturation, high brightness.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/>
              <a:t>Ripe:</a:t>
            </a:r>
            <a:r>
              <a:rPr lang="en-US" sz="2000" dirty="0"/>
              <a:t> Red or yellow, high saturation and brightness.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/>
              <a:t>Overripe:</a:t>
            </a:r>
            <a:r>
              <a:rPr lang="en-US" sz="2000" dirty="0"/>
              <a:t> Brown or dark, low brightness.</a:t>
            </a:r>
          </a:p>
          <a:p>
            <a:pPr algn="l"/>
            <a:endParaRPr lang="en-US" sz="2000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283B57-704F-0B36-8E45-801D41306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4E45C-ECFB-4B7B-864E-D724133BFE4F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83DD82-9380-0910-E65B-A654666FB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4128: Image Processing and Computer Vision Laboratory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E798DD-9F63-39C7-5CD0-E6AE4EC4E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C1EB13-D383-4B21-83FC-22AB2E33CBB6}"/>
              </a:ext>
            </a:extLst>
          </p:cNvPr>
          <p:cNvSpPr txBox="1"/>
          <p:nvPr/>
        </p:nvSpPr>
        <p:spPr>
          <a:xfrm>
            <a:off x="9028350" y="278633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D2E9953-5168-4E17-B903-592A94B7B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564" y="1665514"/>
            <a:ext cx="4931229" cy="33549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58D9CD5-535D-47C0-95AE-5219AE366215}"/>
              </a:ext>
            </a:extLst>
          </p:cNvPr>
          <p:cNvSpPr txBox="1"/>
          <p:nvPr/>
        </p:nvSpPr>
        <p:spPr>
          <a:xfrm>
            <a:off x="7498402" y="5176927"/>
            <a:ext cx="407039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4 : </a:t>
            </a:r>
            <a:r>
              <a:rPr lang="en-US" sz="2000" dirty="0"/>
              <a:t>Color Segmentation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112645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1A127D9-7FB6-3C31-6D37-4322A4E6F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C6822E-8E9F-3F71-EA24-A12C01FE4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2F255F-2AF3-EBED-24FD-2F95FDE7F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08FFD9-3C7C-E2F8-6F06-A19AE55CE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AEDB67-9240-D049-B6C5-753BF7FBF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C79676-DEE5-DF92-B9A2-6BB219B33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930E4C-9945-F2B6-557F-3E1A572A5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C06F01-B3D1-4EE5-D328-2244C199B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F6DBBBF3-A39D-05A4-6C00-C70FDBC8A4AF}"/>
              </a:ext>
            </a:extLst>
          </p:cNvPr>
          <p:cNvSpPr>
            <a:spLocks/>
          </p:cNvSpPr>
          <p:nvPr/>
        </p:nvSpPr>
        <p:spPr>
          <a:xfrm>
            <a:off x="457200" y="825882"/>
            <a:ext cx="11286066" cy="458231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highlight>
                  <a:srgbClr val="FFFFFF"/>
                </a:highlight>
                <a:latin typeface="+mj-lt"/>
              </a:rPr>
              <a:t>METHODOLOGY</a:t>
            </a:r>
            <a:endParaRPr lang="en-US" sz="2800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+mj-lt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1DB803-9007-5C52-B7C3-B003510E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A046-FFAC-4C2D-B39D-2895059CF2DE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29E652-4C37-E9F3-F845-6730E7F3A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4128: Image Processing and Computer Vision Laboratory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CE722-66AB-C230-82C1-78FA93FD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13</a:t>
            </a:fld>
            <a:endParaRPr lang="en-US" dirty="0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DD2C04FC-E5A1-AF6A-FCC3-20F15020F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33" y="-378703"/>
            <a:ext cx="7788729" cy="6500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000" b="1" dirty="0"/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000" b="1" dirty="0"/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000" b="1" dirty="0"/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000" b="1" dirty="0"/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b="1" dirty="0"/>
              <a:t>Texture Analysis: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b="1" dirty="0"/>
              <a:t>Local Variance Calculation:</a:t>
            </a:r>
            <a:r>
              <a:rPr lang="en-US" sz="2000" dirty="0"/>
              <a:t> Computes pixel intensity variance within a 15×15 window. High variance indicates rough, overripe surfaces.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b="1" dirty="0"/>
              <a:t>Texture Refinement:</a:t>
            </a:r>
            <a:r>
              <a:rPr lang="en-US" sz="2000" dirty="0"/>
              <a:t> Identifies high-variance areas to classify as overripe and smooth areas as ripe/unripe.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b="1" dirty="0"/>
              <a:t>Thresholding:</a:t>
            </a:r>
            <a:r>
              <a:rPr lang="en-US" sz="2000" dirty="0"/>
              <a:t> A threshold is applied to the variance map, with values above a set threshold (e.g., 2000) classified as overripe.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18E89B-5304-460D-B854-DF5116F9A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147" y="2204356"/>
            <a:ext cx="3317074" cy="28248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3942076-A320-4EDB-8952-3E617DD924BC}"/>
              </a:ext>
            </a:extLst>
          </p:cNvPr>
          <p:cNvSpPr txBox="1"/>
          <p:nvPr/>
        </p:nvSpPr>
        <p:spPr>
          <a:xfrm>
            <a:off x="8425543" y="5141760"/>
            <a:ext cx="2391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5 : Texture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06494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1A127D9-7FB6-3C31-6D37-4322A4E6F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C6822E-8E9F-3F71-EA24-A12C01FE4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2F255F-2AF3-EBED-24FD-2F95FDE7F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08FFD9-3C7C-E2F8-6F06-A19AE55CE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AEDB67-9240-D049-B6C5-753BF7FBF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C79676-DEE5-DF92-B9A2-6BB219B33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930E4C-9945-F2B6-557F-3E1A572A5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C06F01-B3D1-4EE5-D328-2244C199B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F6DBBBF3-A39D-05A4-6C00-C70FDBC8A4AF}"/>
              </a:ext>
            </a:extLst>
          </p:cNvPr>
          <p:cNvSpPr>
            <a:spLocks/>
          </p:cNvSpPr>
          <p:nvPr/>
        </p:nvSpPr>
        <p:spPr>
          <a:xfrm>
            <a:off x="459770" y="1018086"/>
            <a:ext cx="11267439" cy="81438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800" b="1" dirty="0">
                <a:highlight>
                  <a:srgbClr val="FFFFFF"/>
                </a:highlight>
                <a:latin typeface="+mj-lt"/>
              </a:rPr>
              <a:t>Results Analysis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11040F-804E-E36E-9D81-73703647F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AECAC-0B71-41F0-BF2C-297A3068A3FB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5FD3D6-6726-2A85-83FE-E165E71A2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4128: Image Processing and Computer Vision Laboratory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ED56D0-774C-1D79-B55A-AAF1C0A68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14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865955-BC90-851B-9769-FF59585ADAA5}"/>
              </a:ext>
            </a:extLst>
          </p:cNvPr>
          <p:cNvSpPr txBox="1"/>
          <p:nvPr/>
        </p:nvSpPr>
        <p:spPr>
          <a:xfrm flipV="1">
            <a:off x="1195210" y="3667845"/>
            <a:ext cx="4549634" cy="4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89D24D5C-093C-E1E3-1370-54D3CA569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143" y="2049573"/>
            <a:ext cx="6103569" cy="2796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/>
              <a:t>The User Interface shows the original image and the corresponding ripeness analysis result. The system classifies fruits with the analysis displaying the ripeness distribution and detailed texture analysis metrics. 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59228B-815B-46A6-91A1-BCA2A9192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412" y="2239258"/>
            <a:ext cx="5454288" cy="293168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D5C8BDB-1E7B-486B-94F6-A7C95BCEC8F5}"/>
              </a:ext>
            </a:extLst>
          </p:cNvPr>
          <p:cNvSpPr txBox="1"/>
          <p:nvPr/>
        </p:nvSpPr>
        <p:spPr>
          <a:xfrm>
            <a:off x="7796894" y="5298621"/>
            <a:ext cx="2404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6 : Final </a:t>
            </a:r>
            <a:r>
              <a:rPr lang="en-US" dirty="0" err="1"/>
              <a:t>Ressult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55527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1A127D9-7FB6-3C31-6D37-4322A4E6F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C6822E-8E9F-3F71-EA24-A12C01FE4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2F255F-2AF3-EBED-24FD-2F95FDE7F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08FFD9-3C7C-E2F8-6F06-A19AE55CE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AEDB67-9240-D049-B6C5-753BF7FBF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C79676-DEE5-DF92-B9A2-6BB219B33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930E4C-9945-F2B6-557F-3E1A572A5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C06F01-B3D1-4EE5-D328-2244C199B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A978A1-DFDE-5535-4FD7-0729BD30B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DDE3C-38B3-4672-AE96-D2D9522785F1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4DE9-F065-4C55-50F9-1771B211A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4128: Image Processing and Computer Vision Laboratory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3632DE-5B53-5968-0707-91A01B382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15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9963D3-F29B-36E3-7AC1-34D2977F3D43}"/>
              </a:ext>
            </a:extLst>
          </p:cNvPr>
          <p:cNvSpPr txBox="1"/>
          <p:nvPr/>
        </p:nvSpPr>
        <p:spPr>
          <a:xfrm>
            <a:off x="446533" y="821174"/>
            <a:ext cx="112781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highlight>
                  <a:srgbClr val="FFFFFF"/>
                </a:highlight>
                <a:latin typeface="+mj-lt"/>
              </a:rPr>
              <a:t>Limitation and Challenges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062CA1-A789-4FA4-8C38-9EEE917C6496}"/>
              </a:ext>
            </a:extLst>
          </p:cNvPr>
          <p:cNvSpPr txBox="1"/>
          <p:nvPr/>
        </p:nvSpPr>
        <p:spPr>
          <a:xfrm>
            <a:off x="579664" y="1674926"/>
            <a:ext cx="101935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Lighting Sensitivity: System performance degrades under non-uniform or extreme lighting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Background Complexity: Complex backgrounds may interfere with fruit </a:t>
            </a:r>
            <a:r>
              <a:rPr lang="en-US" dirty="0" err="1"/>
              <a:t>segmen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despite fallback mechanisms.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Fruit Type Specificity: HSV ranges are calibrated primarily for bananas and may need adjustment for other fruits.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Multiple Fruits: Currently processes only one fruit per image 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91424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1A127D9-7FB6-3C31-6D37-4322A4E6F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C6822E-8E9F-3F71-EA24-A12C01FE4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2F255F-2AF3-EBED-24FD-2F95FDE7F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08FFD9-3C7C-E2F8-6F06-A19AE55CE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AEDB67-9240-D049-B6C5-753BF7FBF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C79676-DEE5-DF92-B9A2-6BB219B33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930E4C-9945-F2B6-557F-3E1A572A5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C06F01-B3D1-4EE5-D328-2244C199B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F6DBBBF3-A39D-05A4-6C00-C70FDBC8A4AF}"/>
              </a:ext>
            </a:extLst>
          </p:cNvPr>
          <p:cNvSpPr>
            <a:spLocks/>
          </p:cNvSpPr>
          <p:nvPr/>
        </p:nvSpPr>
        <p:spPr>
          <a:xfrm>
            <a:off x="707011" y="905857"/>
            <a:ext cx="11017629" cy="458231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8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+mj-lt"/>
              </a:rPr>
              <a:t>Conclusion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E3E019-E776-2199-DD78-385856325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21F1-78C5-4840-A69A-2002C22183EC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09F293-6AC8-A2A0-3090-9B668D0B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4128: Image Processing and Computer Vision Laboratory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BD2550-2B66-4719-4E49-B00FA122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16</a:t>
            </a:fld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C693D76-7FCE-8FF1-B77E-5173B43A9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644" y="1720856"/>
            <a:ext cx="9577912" cy="3269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/>
              <a:t>The system successfully classifies fruit ripeness into Unripe, Ripe, and Overripe categories using color segmentation and texture analysis, without the need for machine learning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/>
              <a:t>It effectively handles variations in fruit types, sizes, and orientations, providing consistent results across different conditions.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/>
              <a:t>The system is valuable for agricultural automation, food quality control, and supply chain management, offering a reliable and efficient solution for ripeness assessment.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255287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44C27-86F7-4535-7861-09D6A102F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39ADC87-8B00-1AD0-CB1A-CCFAFAE20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590190-1F89-C6F4-75F7-BC448AEED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9BB53C-8CB8-CEC3-D6AA-72EE86DD0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44217A-2517-EEB4-B03D-85DE41AD4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B8BAD1-FE8C-2423-86B3-62E733A9F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429993-5123-2533-A5C6-6DDAA58B8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500480-BD2F-A37A-C327-45BD7B44F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91BB7E-EA21-9E05-3124-2918A1164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51D716-0B46-5D19-8062-A88150DE6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C6F14-ED71-4F44-BAAD-EBB83E2A2199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687279-A53E-5B99-CE79-4EAAEDEF5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4128: Image Processing and Computer Vision Laboratory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5737C-B780-6FD6-5AC2-164D27D0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1E3EF0-6958-32EE-DEB9-E3006E310DB0}"/>
              </a:ext>
            </a:extLst>
          </p:cNvPr>
          <p:cNvSpPr txBox="1"/>
          <p:nvPr/>
        </p:nvSpPr>
        <p:spPr>
          <a:xfrm>
            <a:off x="599535" y="2282514"/>
            <a:ext cx="10690332" cy="2024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3"/>
              </a:lnSpc>
            </a:pPr>
            <a:r>
              <a:rPr lang="en-US" sz="11802" b="1" dirty="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3769282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00B2AC-C335-4100-B8B3-2D9F49A729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037C456-A6DA-4DEE-A3FB-4EC3058FD0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9D1F84C-D1FD-4B1B-9CFD-8E0D96AC4DF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{0A4ECE73-36BB-43A9-8E18-AE608BBCD9BF}tf45205285_win32</Template>
  <TotalTime>1612</TotalTime>
  <Words>1081</Words>
  <Application>Microsoft Office PowerPoint</Application>
  <PresentationFormat>Widescreen</PresentationFormat>
  <Paragraphs>183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Gill Sans MT</vt:lpstr>
      <vt:lpstr>Red Hat Display Bold</vt:lpstr>
      <vt:lpstr>Times New Roman</vt:lpstr>
      <vt:lpstr>ui-sans-serif</vt:lpstr>
      <vt:lpstr>Wingdings</vt:lpstr>
      <vt:lpstr>Wingdings 2</vt:lpstr>
      <vt:lpstr>DividendVTI</vt:lpstr>
      <vt:lpstr>Fruit Ripeness Detection system</vt:lpstr>
      <vt:lpstr>Contents of 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Hasibul Hasan</dc:creator>
  <cp:lastModifiedBy>Sayma Mridula</cp:lastModifiedBy>
  <cp:revision>40</cp:revision>
  <dcterms:created xsi:type="dcterms:W3CDTF">2024-05-22T06:19:53Z</dcterms:created>
  <dcterms:modified xsi:type="dcterms:W3CDTF">2025-11-05T00:55:36Z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